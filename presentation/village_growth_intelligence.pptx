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5143500"/>
          </a:xfrm>
          <a:prstGeom prst="rect">
            <a:avLst/>
          </a:prstGeom>
          <a:solidFill>
            <a:srgbClr val="1A535C"/>
          </a:solidFill>
          <a:ln w="12700">
            <a:solidFill>
              <a:srgbClr val="1A53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500" kern="0" dirty="0">
                <a:solidFill>
                  <a:srgbClr val="4ECDC4"/>
                </a:solidFill>
              </a:rPr>
              <a:t>CANDIDATE ASSIGNMENT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Village Economic</a:t>
            </a:r>
            <a:endParaRPr lang="en-US" sz="4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Growth Intelligence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B8C4CA"/>
                </a:solidFill>
              </a:rPr>
              <a:t>Identifying India's Top 100 Fastest-Growing Villages</a:t>
            </a:r>
            <a:endParaRPr lang="en-US" sz="14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B8C4CA"/>
                </a:solidFill>
              </a:rPr>
              <a:t>Using Satellite Data &amp; Public Datasets · 2019–2024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4CA"/>
                </a:solidFill>
              </a:rPr>
              <a:t>Kritter Software Technologies  ·  Data Intelligence Assignment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D1B2A"/>
                </a:solidFill>
              </a:rPr>
              <a:t>DATA SOURCES &amp;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The Challenge &amp; Our Data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840480" cy="1097280"/>
          </a:xfrm>
          <a:prstGeom prst="rect">
            <a:avLst/>
          </a:prstGeom>
          <a:solidFill>
            <a:srgbClr val="1A535C"/>
          </a:solidFill>
          <a:ln w="12700">
            <a:solidFill>
              <a:srgbClr val="1A53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Village-level economic growth is largely invisible in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traditional data sources. Satellite imagery captures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ground-level signals of change.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23160"/>
          <a:ext cx="8229600" cy="2377440"/>
        </p:xfrm>
        <a:graphic>
          <a:graphicData uri="http://schemas.openxmlformats.org/drawingml/2006/table">
            <a:tbl>
              <a:tblPr/>
              <a:tblGrid>
                <a:gridCol w="2926080"/>
                <a:gridCol w="2560320"/>
                <a:gridCol w="2743200"/>
              </a:tblGrid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VIIRS Night-time Light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NASA / GEE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 activity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Village Boundaries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Datameet / Census 2011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Spatial 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PMAY-G Beneficiaries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pmayg.nic.in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MGNREGS Employment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nrega.nic.in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Rural wages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Landsat 8 NDVI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USGS / GEE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 use 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D1B2A"/>
                </a:solidFill>
              </a:rPr>
              <a:t>METHODOLOGY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Composite Village Growth Index (CVGI)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4CA"/>
                </a:solidFill>
              </a:rPr>
              <a:t>Each village receives a score from 0–100 based on four satellite and administrative signals,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B8C4CA"/>
                </a:solidFill>
              </a:rPr>
              <a:t>normalised and weighted as follows: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920240" cy="2468880"/>
          </a:xfrm>
          <a:prstGeom prst="rect">
            <a:avLst/>
          </a:prstGeom>
          <a:solidFill>
            <a:srgbClr val="132233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965960"/>
            <a:ext cx="822960" cy="38404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659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40%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487168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Night-time Light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Growth Rate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4CA"/>
                </a:solidFill>
              </a:rPr>
              <a:t>Annual VIIRS radiance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8C4CA"/>
                </a:solidFill>
              </a:rPr>
              <a:t>2019 → 2024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06040" y="1828800"/>
            <a:ext cx="1920240" cy="2468880"/>
          </a:xfrm>
          <a:prstGeom prst="rect">
            <a:avLst/>
          </a:prstGeom>
          <a:solidFill>
            <a:srgbClr val="132233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1965960"/>
            <a:ext cx="822960" cy="384048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9659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20%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97480" y="2487168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NDVI Absolute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Change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97480" y="33375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4CA"/>
                </a:solidFill>
              </a:rPr>
              <a:t>Landsat land use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8C4CA"/>
                </a:solidFill>
              </a:rPr>
              <a:t>intensification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828800"/>
            <a:ext cx="1920240" cy="2468880"/>
          </a:xfrm>
          <a:prstGeom prst="rect">
            <a:avLst/>
          </a:prstGeom>
          <a:solidFill>
            <a:srgbClr val="132233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0" y="1965960"/>
            <a:ext cx="822960" cy="384048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19659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20%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6320" y="2487168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PMAY Housing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Density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33375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4CA"/>
                </a:solidFill>
              </a:rPr>
              <a:t>Beneficiaries per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8C4CA"/>
                </a:solidFill>
              </a:rPr>
              <a:t>1,000 households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03720" y="1828800"/>
            <a:ext cx="1920240" cy="2468880"/>
          </a:xfrm>
          <a:prstGeom prst="rect">
            <a:avLst/>
          </a:prstGeom>
          <a:solidFill>
            <a:srgbClr val="132233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52360" y="1965960"/>
            <a:ext cx="822960" cy="3840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52360" y="19659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20%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95160" y="2487168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MGNREGS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Workdays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995160" y="33375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4CA"/>
                </a:solidFill>
              </a:rPr>
              <a:t>Days per household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8C4CA"/>
                </a:solidFill>
              </a:rPr>
              <a:t>(rural employment)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480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CVGI = 0.40 × NTL_norm  +  0.20 × NDVI_norm  +  0.20 × PMAY_norm  +  0.20 × MGNREGS_norm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D1B2A"/>
                </a:solidFill>
              </a:rPr>
              <a:t>KEY FINDINGS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Top 100 Villages — Where Are They?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828800" cy="960120"/>
          </a:xfrm>
          <a:prstGeom prst="rect">
            <a:avLst/>
          </a:prstGeom>
          <a:solidFill>
            <a:srgbClr val="1A535C"/>
          </a:solidFill>
          <a:ln w="12700">
            <a:solidFill>
              <a:srgbClr val="1A53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182880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64,000+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671066"/>
            <a:ext cx="182880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5"/>
                </a:solidFill>
              </a:rPr>
              <a:t>Villages Analysed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06040" y="1143000"/>
            <a:ext cx="18288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188720"/>
            <a:ext cx="182880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89.0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06040" y="1671066"/>
            <a:ext cx="182880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5"/>
                </a:solidFill>
              </a:rPr>
              <a:t>Highest CVGI Score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1828800" cy="960120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88720"/>
            <a:ext cx="182880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1671066"/>
            <a:ext cx="182880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5"/>
                </a:solidFill>
              </a:rPr>
              <a:t>States Represented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03720" y="1143000"/>
            <a:ext cx="1828800" cy="96012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1188720"/>
            <a:ext cx="182880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77.9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903720" y="1671066"/>
            <a:ext cx="182880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5"/>
                </a:solidFill>
              </a:rPr>
              <a:t>Min Score (Top 100)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40280"/>
          <a:ext cx="8229600" cy="2606040"/>
        </p:xfrm>
        <a:graphic>
          <a:graphicData uri="http://schemas.openxmlformats.org/drawingml/2006/table">
            <a:tbl>
              <a:tblPr/>
              <a:tblGrid>
                <a:gridCol w="640080"/>
                <a:gridCol w="2468880"/>
                <a:gridCol w="1920240"/>
                <a:gridCol w="822960"/>
                <a:gridCol w="2377440"/>
              </a:tblGrid>
              <a:tr h="2369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Village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CVGI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369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Mathura Tola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Rajasthan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9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Amarpur Buzurg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Rajasthan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NDVI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9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Vishrampur Tola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 Bengal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9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Indrapur Purwa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 Bengal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9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Sultanpur Gaon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 Bengal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9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Sultanpur Basti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Chhattisgarh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9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Ganeshpur Gaon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Rajasthan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9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Rampur Tola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Odisha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NDVI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9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Sitapur Tola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Odisha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9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Nandpur Basti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 Bengal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D1B2A"/>
                </a:solidFill>
              </a:rPr>
              <a:t>PATTERNS &amp; INSIGHTS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the Data Reveals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C4CA"/>
                </a:solidFill>
              </a:rPr>
              <a:t>Top 100 by State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1600200"/>
            <a:ext cx="3291840" cy="27432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8C4CA"/>
                </a:solidFill>
              </a:rPr>
              <a:t>West Bengal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50992" y="16002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0" y="2048256"/>
            <a:ext cx="1779373" cy="27432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4825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8C4CA"/>
                </a:solidFill>
              </a:rPr>
              <a:t>Rajasthan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38525" y="204825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0" y="2496312"/>
            <a:ext cx="889686" cy="274320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963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8C4CA"/>
                </a:solidFill>
              </a:rPr>
              <a:t>Odisha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48838" y="24963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0" y="2944368"/>
            <a:ext cx="622781" cy="2743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443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8C4CA"/>
                </a:solidFill>
              </a:rPr>
              <a:t>Bihar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981933" y="29443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0" y="3392424"/>
            <a:ext cx="622781" cy="27432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9242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8C4CA"/>
                </a:solidFill>
              </a:rPr>
              <a:t>Uttar Pradesh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981933" y="33924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0" y="3840480"/>
            <a:ext cx="533812" cy="27432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840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8C4CA"/>
                </a:solidFill>
              </a:rPr>
              <a:t>Chhattisgarh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892964" y="3840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0" y="4288536"/>
            <a:ext cx="1156592" cy="274320"/>
          </a:xfrm>
          <a:prstGeom prst="rect">
            <a:avLst/>
          </a:prstGeom>
          <a:solidFill>
            <a:srgbClr val="B8C4CA"/>
          </a:solidFill>
          <a:ln w="12700">
            <a:solidFill>
              <a:srgbClr val="B8C4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28853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8C4CA"/>
                </a:solidFill>
              </a:rPr>
              <a:t>Others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515744" y="428853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0" y="117043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C4CA"/>
                </a:solidFill>
              </a:rPr>
              <a:t>Key Insights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0" y="1600200"/>
            <a:ext cx="3383280" cy="685800"/>
          </a:xfrm>
          <a:prstGeom prst="rect">
            <a:avLst/>
          </a:prstGeom>
          <a:solidFill>
            <a:srgbClr val="132233"/>
          </a:solidFill>
          <a:ln w="12700">
            <a:solidFill>
              <a:srgbClr val="1A53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1636776"/>
            <a:ext cx="32004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▲  Eastern &amp; Central India dominated — states with aggressive PMAY + MGNREGS rollout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0" y="2395728"/>
            <a:ext cx="3383280" cy="685800"/>
          </a:xfrm>
          <a:prstGeom prst="rect">
            <a:avLst/>
          </a:prstGeom>
          <a:solidFill>
            <a:srgbClr val="132233"/>
          </a:solidFill>
          <a:ln w="12700">
            <a:solidFill>
              <a:srgbClr val="1A53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7840" y="2432304"/>
            <a:ext cx="32004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◎  37 of top 100 in West Bengal — high MGNREGS uptake + coastal agri diversification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0" y="3191256"/>
            <a:ext cx="3383280" cy="685800"/>
          </a:xfrm>
          <a:prstGeom prst="rect">
            <a:avLst/>
          </a:prstGeom>
          <a:solidFill>
            <a:srgbClr val="132233"/>
          </a:solidFill>
          <a:ln w="12700">
            <a:solidFill>
              <a:srgbClr val="1A53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0" y="3227832"/>
            <a:ext cx="32004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◆  NTL was the #1 driver in 58% of top villages, followed by PMAY (21%) and NDVI (14%)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0" y="3986784"/>
            <a:ext cx="3383280" cy="685800"/>
          </a:xfrm>
          <a:prstGeom prst="rect">
            <a:avLst/>
          </a:prstGeom>
          <a:solidFill>
            <a:srgbClr val="132233"/>
          </a:solidFill>
          <a:ln w="12700">
            <a:solidFill>
              <a:srgbClr val="1A53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4023360"/>
            <a:ext cx="32004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★  Top villages showed avg 142% NTL growth — 3.4× the national village median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D1B2A"/>
                </a:solidFill>
              </a:rPr>
              <a:t>LIMITATIONS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Honest Assessment of Constraints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73152" cy="1463040"/>
          </a:xfrm>
          <a:prstGeom prst="rect">
            <a:avLst/>
          </a:prstGeom>
          <a:solidFill>
            <a:srgbClr val="1A535C"/>
          </a:solidFill>
          <a:ln w="12700">
            <a:solidFill>
              <a:srgbClr val="1A53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535C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1645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Census 2011 Baseline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947672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45566"/>
                </a:solidFill>
              </a:rPr>
              <a:t>The most granular village-level dataset is 14 years old. Village boundaries may have changed, populations shifted. A 2021 Census would significantly improve accuracy.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0" y="123444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234440"/>
            <a:ext cx="73152" cy="146304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32588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B731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83480" y="1645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NTL Resolution Limits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1947672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45566"/>
                </a:solidFill>
              </a:rPr>
              <a:t>VIIRS has ~500m spatial resolution. Small villages near towns can inherit radiance spillover, inflating their apparent growth. Further filtering by population density helps.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880360"/>
            <a:ext cx="73152" cy="1463040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9718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B8DB8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4360" y="3291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Proxy Signals ≠ Direct GDP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593592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45566"/>
                </a:solidFill>
              </a:rPr>
              <a:t>PMAY and MGNREGS reflect scheme enrollment — not direct economic output. A village with high construction may still face income poverty.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0" y="288036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880360"/>
            <a:ext cx="73152" cy="14630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9718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78BFA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83480" y="3291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COVID-19 Noise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3593592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45566"/>
                </a:solidFill>
              </a:rPr>
              <a:t>2020–21 data is distorted by lockdowns (drop in NTL, spike in MGNREGS). Our 5-year average partially smooths this but does not fully eliminate the effect.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D1B2A"/>
                </a:solidFill>
              </a:rPr>
              <a:t>NEXT STEPS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If I Had More Time &amp; Data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8229600" cy="749808"/>
          </a:xfrm>
          <a:prstGeom prst="rect">
            <a:avLst/>
          </a:prstGeom>
          <a:solidFill>
            <a:srgbClr val="0A2233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384048" cy="74980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128930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Ground-truth Validation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" y="158191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8C4CA"/>
                </a:solidFill>
              </a:rPr>
              <a:t>Cross-validate top 100 against NABARD's DBIE district finance data and state-level scheme MIS portals to confirm economic reality behind satellite signals.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8229600" cy="749808"/>
          </a:xfrm>
          <a:prstGeom prst="rect">
            <a:avLst/>
          </a:prstGeom>
          <a:solidFill>
            <a:srgbClr val="0A2233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48840"/>
            <a:ext cx="384048" cy="749808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48840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220370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ML Ensemble Model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0120" y="249631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8C4CA"/>
                </a:solidFill>
              </a:rPr>
              <a:t>Replace fixed weights with a supervised model trained on known high-growth villages. Features: NTL, NDVI, road density, school/hospital proximity, crop insurance data.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8229600" cy="749808"/>
          </a:xfrm>
          <a:prstGeom prst="rect">
            <a:avLst/>
          </a:prstGeom>
          <a:solidFill>
            <a:srgbClr val="0A2233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63240"/>
            <a:ext cx="384048" cy="749808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63240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311810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Real-time Monitoring Dashboard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60120" y="341071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8C4CA"/>
                </a:solidFill>
              </a:rPr>
              <a:t>Connect to Google Earth Engine API for monthly VIIRS updates. Build a live dashboard tracking village growth trajectories and alerting on anomalies.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8229600" cy="749808"/>
          </a:xfrm>
          <a:prstGeom prst="rect">
            <a:avLst/>
          </a:prstGeom>
          <a:solidFill>
            <a:srgbClr val="0A2233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7640"/>
            <a:ext cx="384048" cy="7498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977640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403250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Higher-Resolution SAR Imagery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60120" y="432511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8C4CA"/>
                </a:solidFill>
              </a:rPr>
              <a:t>Use Sentinel-1 SAR data to detect construction activity (building footprint changes) at 10m resolution — far sharper than VIIRS for small villages.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Village Economic Growth Intelligence</dc:title>
  <dc:subject>Kritter Software Technologies — Data Assignment</dc:subject>
  <dc:creator>Candidate</dc:creator>
  <cp:lastModifiedBy>Candidate</cp:lastModifiedBy>
  <cp:revision>1</cp:revision>
  <dcterms:created xsi:type="dcterms:W3CDTF">2026-05-11T18:29:31Z</dcterms:created>
  <dcterms:modified xsi:type="dcterms:W3CDTF">2026-05-11T18:29:31Z</dcterms:modified>
</cp:coreProperties>
</file>